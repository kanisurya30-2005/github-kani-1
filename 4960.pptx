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Student Placement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Placed</c:v>
                </c:pt>
                <c:pt idx="1">
                  <c:v>Not Placed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2133</c:v>
                </c:pt>
                <c:pt idx="1">
                  <c:v>366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Placed Students by Specialization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Placed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Finance &amp; HR</c:v>
                </c:pt>
                <c:pt idx="1">
                  <c:v>Marketing &amp; Finance</c:v>
                </c:pt>
                <c:pt idx="2">
                  <c:v>Marketing &amp; HR</c:v>
                </c:pt>
                <c:pt idx="3">
                  <c:v>None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243</c:v>
                </c:pt>
                <c:pt idx="1">
                  <c:v>268</c:v>
                </c:pt>
                <c:pt idx="2">
                  <c:v>283</c:v>
                </c:pt>
                <c:pt idx="3">
                  <c:v>1339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Salary (LPA)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salary (LPA)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Finance &amp; HR</c:v>
                </c:pt>
                <c:pt idx="1">
                  <c:v>Marketing &amp; Finance</c:v>
                </c:pt>
                <c:pt idx="2">
                  <c:v>Marketing &amp; HR</c:v>
                </c:pt>
                <c:pt idx="3">
                  <c:v>None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9.9635</c:v>
                </c:pt>
                <c:pt idx="1">
                  <c:v>10.0738</c:v>
                </c:pt>
                <c:pt idx="2">
                  <c:v>10.2873</c:v>
                </c:pt>
                <c:pt idx="3">
                  <c:v>9.7048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Technical Skills Score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technical skills score</c:v>
                </c:pt>
              </c:strCache>
            </c:strRef>
          </c:tx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6.0922</c:v>
                </c:pt>
                <c:pt idx="1">
                  <c:v>6.0661</c:v>
                </c:pt>
                <c:pt idx="2">
                  <c:v>5.8695</c:v>
                </c:pt>
                <c:pt idx="3">
                  <c:v>5.9827</c:v>
                </c:pt>
                <c:pt idx="4">
                  <c:v>5.9474</c:v>
                </c:pt>
                <c:pt idx="5">
                  <c:v>5.9383</c:v>
                </c:pt>
                <c:pt idx="6">
                  <c:v>6.0267</c:v>
                </c:pt>
                <c:pt idx="7">
                  <c:v>6.0452</c:v>
                </c:pt>
                <c:pt idx="8">
                  <c:v>6.2727</c:v>
                </c:pt>
                <c:pt idx="9">
                  <c:v>6.8059</c:v>
                </c:pt>
                <c:pt idx="10">
                  <c:v>5.7636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Students by Certification Count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616</c:v>
                </c:pt>
                <c:pt idx="1">
                  <c:v>618</c:v>
                </c:pt>
                <c:pt idx="2">
                  <c:v>529</c:v>
                </c:pt>
                <c:pt idx="3">
                  <c:v>316</c:v>
                </c:pt>
                <c:pt idx="4">
                  <c:v>183</c:v>
                </c:pt>
                <c:pt idx="5">
                  <c:v>116</c:v>
                </c:pt>
                <c:pt idx="6">
                  <c:v>76</c:v>
                </c:pt>
                <c:pt idx="7">
                  <c:v>30</c:v>
                </c:pt>
                <c:pt idx="8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Placed Students by Degree Field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Placed students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Arts</c:v>
                </c:pt>
                <c:pt idx="1">
                  <c:v>Business</c:v>
                </c:pt>
                <c:pt idx="2">
                  <c:v>Engineering</c:v>
                </c:pt>
                <c:pt idx="3">
                  <c:v>Other</c:v>
                </c:pt>
                <c:pt idx="4">
                  <c:v>Science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212</c:v>
                </c:pt>
                <c:pt idx="1">
                  <c:v>520</c:v>
                </c:pt>
                <c:pt idx="2">
                  <c:v>888</c:v>
                </c:pt>
                <c:pt idx="3">
                  <c:v>222</c:v>
                </c:pt>
                <c:pt idx="4">
                  <c:v>291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38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09728" cy="6858000"/>
          </a:xfrm>
          <a:prstGeom prst="rect">
            <a:avLst/>
          </a:prstGeom>
          <a:solidFill>
            <a:srgbClr val="D7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43F30"/>
                </a:solidFill>
              </a:defRPr>
            </a:pPr>
            <a:r>
              <a:t>CAMPUS RECRUITMENT</a:t>
            </a:r>
          </a:p>
          <a:p>
            <a:pPr>
              <a:defRPr sz="3200" b="1">
                <a:solidFill>
                  <a:srgbClr val="438253"/>
                </a:solidFill>
              </a:defRPr>
            </a:pPr>
            <a:r>
              <a:t>PLACEMENT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00400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D36"/>
                </a:solidFill>
              </a:defRPr>
            </a:pPr>
            <a:r>
              <a:t>Excel-based analysis of student placement, salary and employability indicators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297680"/>
            <a:ext cx="2971800" cy="566928"/>
          </a:xfrm>
          <a:prstGeom prst="roundRect">
            <a:avLst/>
          </a:prstGeom>
          <a:solidFill>
            <a:srgbClr val="438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 ANALYTICS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C3D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38253"/>
                </a:solidFill>
              </a:defRPr>
            </a:pPr>
            <a:r>
              <a:t>Campus Recruitment Placement Dashboard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3F30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38253"/>
                </a:solidFill>
              </a:defRPr>
            </a:pPr>
            <a:r>
              <a:t>Objective: convert student data into clear and useful insights.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This project explores campus recruitment and student placement outcomes using Excel.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13432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The dataset contains 2,499 student records with academic and employability attributes.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9544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19272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PivotTables and charts summarize placement, salary, degree field and skill indicators.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05656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15384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The dashboard presents key performance indicators (KPIs) and visual insights in one 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C3D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38253"/>
                </a:solidFill>
              </a:defRPr>
            </a:pPr>
            <a:r>
              <a:t>Campus Recruitment Placement Dashboard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3F30"/>
                </a:solidFill>
              </a:defRPr>
            </a:pPr>
            <a:r>
              <a:t>Tools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38253"/>
                </a:solidFill>
              </a:defRPr>
            </a:pPr>
            <a:r>
              <a:t>Workflow: Data → PivotTables → Charts →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Excel Table and cleaned dataset are used to organize student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13432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PivotTables summarize counts, averages and placement totals by category.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9544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19272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PivotCharts visualize comparisons with column, line and doughnut charts.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05656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15384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A dashboard combines KPI cards, charts and a consistent green theme.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C3D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38253"/>
                </a:solidFill>
              </a:defRPr>
            </a:pPr>
            <a:r>
              <a:t>Campus Recruitment Placement Dashboard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3F30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38253"/>
                </a:solidFill>
              </a:defRPr>
            </a:pPr>
            <a:r>
              <a:t>Headline results shown in the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38253"/>
                </a:solidFill>
              </a:defRPr>
            </a:pPr>
            <a:r>
              <a:t>TOTAL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30552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43F30"/>
                </a:solidFill>
              </a:defRPr>
            </a:pPr>
            <a:r>
              <a:t>2,499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0876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6916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38253"/>
                </a:solidFill>
              </a:defRPr>
            </a:pPr>
            <a:r>
              <a:t>PLACED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30552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43F30"/>
                </a:solidFill>
              </a:defRPr>
            </a:pPr>
            <a:r>
              <a:t>2,133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50876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16916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38253"/>
                </a:solidFill>
              </a:defRPr>
            </a:pPr>
            <a:r>
              <a:t>NOT PLACED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130552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43F30"/>
                </a:solidFill>
              </a:defRPr>
            </a:pPr>
            <a:r>
              <a:t>366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365760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3840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38253"/>
                </a:solidFill>
              </a:defRPr>
            </a:pPr>
            <a:r>
              <a:t>AVERAGE SALARY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279392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43F30"/>
                </a:solidFill>
              </a:defRPr>
            </a:pPr>
            <a:r>
              <a:t>9.85 LPA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65760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3840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38253"/>
                </a:solidFill>
              </a:defRPr>
            </a:pPr>
            <a:r>
              <a:t>HIGHEST SALARY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279392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43F30"/>
                </a:solidFill>
              </a:defRPr>
            </a:pPr>
            <a:r>
              <a:t>21.75 LPA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C3D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38253"/>
                </a:solidFill>
              </a:defRPr>
            </a:pPr>
            <a:r>
              <a:t>Campus Recruitment Placement Dashboard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3F30"/>
                </a:solidFill>
              </a:defRPr>
            </a:pPr>
            <a:r>
              <a:t>Placement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38253"/>
                </a:solidFill>
              </a:defRPr>
            </a:pPr>
            <a:r>
              <a:t>Placed and not placed students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141732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920240"/>
            <a:ext cx="41148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23D36"/>
                </a:solidFill>
              </a:defRPr>
            </a:pPr>
            <a:r>
              <a:t>• Total students: 2,499</a:t>
            </a:r>
          </a:p>
          <a:p>
            <a:pPr>
              <a:spcAft>
                <a:spcPts val="1600"/>
              </a:spcAft>
              <a:defRPr sz="2000">
                <a:solidFill>
                  <a:srgbClr val="323D36"/>
                </a:solidFill>
              </a:defRPr>
            </a:pPr>
            <a:r>
              <a:t>• Placed: 2,133</a:t>
            </a:r>
          </a:p>
          <a:p>
            <a:pPr>
              <a:spcAft>
                <a:spcPts val="1600"/>
              </a:spcAft>
              <a:defRPr sz="2000">
                <a:solidFill>
                  <a:srgbClr val="323D36"/>
                </a:solidFill>
              </a:defRPr>
            </a:pPr>
            <a:r>
              <a:t>• Not placed: 366</a:t>
            </a:r>
          </a:p>
          <a:p>
            <a:pPr>
              <a:spcAft>
                <a:spcPts val="1600"/>
              </a:spcAft>
              <a:defRPr sz="2000">
                <a:solidFill>
                  <a:srgbClr val="323D36"/>
                </a:solidFill>
              </a:defRPr>
            </a:pPr>
            <a:r>
              <a:t>• Placement rate: approximately 85.4%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C3D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38253"/>
                </a:solidFill>
              </a:defRPr>
            </a:pPr>
            <a:r>
              <a:t>Campus Recruitment Placement Dashboard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3F30"/>
                </a:solidFill>
              </a:defRPr>
            </a:pPr>
            <a:r>
              <a:t>Placement by Specialization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38253"/>
                </a:solidFill>
              </a:defRPr>
            </a:pPr>
            <a:r>
              <a:t>Placement totals by MBA specialization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41732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1920240"/>
            <a:ext cx="29260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23D36"/>
                </a:solidFill>
              </a:defRPr>
            </a:pPr>
            <a:r>
              <a:t>• Finance &amp; HR: 243</a:t>
            </a:r>
          </a:p>
          <a:p>
            <a:pPr>
              <a:spcAft>
                <a:spcPts val="1200"/>
              </a:spcAft>
              <a:defRPr sz="1600">
                <a:solidFill>
                  <a:srgbClr val="323D36"/>
                </a:solidFill>
              </a:defRPr>
            </a:pPr>
            <a:r>
              <a:t>• Marketing &amp; Finance: 268</a:t>
            </a:r>
          </a:p>
          <a:p>
            <a:pPr>
              <a:spcAft>
                <a:spcPts val="1200"/>
              </a:spcAft>
              <a:defRPr sz="1600">
                <a:solidFill>
                  <a:srgbClr val="323D36"/>
                </a:solidFill>
              </a:defRPr>
            </a:pPr>
            <a:r>
              <a:t>• Marketing &amp; HR: 283</a:t>
            </a:r>
          </a:p>
          <a:p>
            <a:pPr>
              <a:spcAft>
                <a:spcPts val="1200"/>
              </a:spcAft>
              <a:defRPr sz="1600">
                <a:solidFill>
                  <a:srgbClr val="323D36"/>
                </a:solidFill>
              </a:defRPr>
            </a:pPr>
            <a:r>
              <a:t>• None: 1,339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C3D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38253"/>
                </a:solidFill>
              </a:defRPr>
            </a:pPr>
            <a:r>
              <a:t>Campus Recruitment Placement Dashboard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3F30"/>
                </a:solidFill>
              </a:defRPr>
            </a:pPr>
            <a:r>
              <a:t>Average Salary by Specialization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38253"/>
                </a:solidFill>
              </a:defRPr>
            </a:pPr>
            <a:r>
              <a:t>Average salary in LPA, based on the PivotTable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41732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2057400"/>
            <a:ext cx="29260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323D36"/>
                </a:solidFill>
              </a:defRPr>
            </a:pPr>
            <a:r>
              <a:t>Highest category average:</a:t>
            </a:r>
          </a:p>
          <a:p>
            <a:pPr>
              <a:spcAft>
                <a:spcPts val="1200"/>
              </a:spcAft>
              <a:defRPr sz="1700" b="1">
                <a:solidFill>
                  <a:srgbClr val="438253"/>
                </a:solidFill>
              </a:defRPr>
            </a:pPr>
            <a:r>
              <a:t>Marketing &amp; HR</a:t>
            </a:r>
          </a:p>
          <a:p>
            <a:pPr>
              <a:spcAft>
                <a:spcPts val="1200"/>
              </a:spcAft>
              <a:defRPr sz="1700" b="0">
                <a:solidFill>
                  <a:srgbClr val="323D36"/>
                </a:solidFill>
              </a:defRPr>
            </a:pPr>
            <a:r>
              <a:t>Approximately 10.29 LPA</a:t>
            </a:r>
          </a:p>
          <a:p>
            <a:pPr>
              <a:spcAft>
                <a:spcPts val="1200"/>
              </a:spcAft>
              <a:defRPr sz="1700" b="0">
                <a:solidFill>
                  <a:srgbClr val="323D36"/>
                </a:solidFill>
              </a:defRPr>
            </a:pPr>
            <a:r>
              <a:t>Overall average: 9.85 LPA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C3D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38253"/>
                </a:solidFill>
              </a:defRPr>
            </a:pPr>
            <a:r>
              <a:t>Campus Recruitment Placement Dashboard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3F30"/>
                </a:solidFill>
              </a:defRPr>
            </a:pPr>
            <a:r>
              <a:t>Technical Skills by Project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38253"/>
                </a:solidFill>
              </a:defRPr>
            </a:pPr>
            <a:r>
              <a:t>Average technical skills score across project-count groups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41732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2011680"/>
            <a:ext cx="2926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323D36"/>
                </a:solidFill>
              </a:defRPr>
            </a:pPr>
            <a:r>
              <a:t>• The score changes across project-count groups.</a:t>
            </a:r>
          </a:p>
          <a:p>
            <a:pPr>
              <a:spcAft>
                <a:spcPts val="1500"/>
              </a:spcAft>
              <a:defRPr sz="1500">
                <a:solidFill>
                  <a:srgbClr val="323D36"/>
                </a:solidFill>
              </a:defRPr>
            </a:pPr>
            <a:r>
              <a:t>• Highest shown average: about 6.81 (9 projects).</a:t>
            </a:r>
          </a:p>
          <a:p>
            <a:pPr>
              <a:spcAft>
                <a:spcPts val="1500"/>
              </a:spcAft>
              <a:defRPr sz="1500">
                <a:solidFill>
                  <a:srgbClr val="323D36"/>
                </a:solidFill>
              </a:defRPr>
            </a:pPr>
            <a:r>
              <a:t>• This is a descriptive comparison, not proof of cause and effect.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C3D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38253"/>
                </a:solidFill>
              </a:defRPr>
            </a:pPr>
            <a:r>
              <a:t>Campus Recruitment Placement Dashboard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3F30"/>
                </a:solidFill>
              </a:defRPr>
            </a:pPr>
            <a:r>
              <a:t>Certification Count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38253"/>
                </a:solidFill>
              </a:defRPr>
            </a:pPr>
            <a:r>
              <a:t>Number of students grouped by certification count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41732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2011680"/>
            <a:ext cx="29260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323D36"/>
                </a:solidFill>
              </a:defRPr>
            </a:pPr>
            <a:r>
              <a:t>Most common groups:</a:t>
            </a:r>
          </a:p>
          <a:p>
            <a:pPr>
              <a:spcAft>
                <a:spcPts val="1400"/>
              </a:spcAft>
              <a:defRPr sz="1500">
                <a:solidFill>
                  <a:srgbClr val="323D36"/>
                </a:solidFill>
              </a:defRPr>
            </a:pPr>
            <a:r>
              <a:t>• 1 certification: 618 students</a:t>
            </a:r>
          </a:p>
          <a:p>
            <a:pPr>
              <a:spcAft>
                <a:spcPts val="1400"/>
              </a:spcAft>
              <a:defRPr sz="1500">
                <a:solidFill>
                  <a:srgbClr val="323D36"/>
                </a:solidFill>
              </a:defRPr>
            </a:pPr>
            <a:r>
              <a:t>• 0 certifications: 616 students</a:t>
            </a:r>
          </a:p>
          <a:p>
            <a:pPr>
              <a:spcAft>
                <a:spcPts val="1400"/>
              </a:spcAft>
              <a:defRPr sz="1500">
                <a:solidFill>
                  <a:srgbClr val="323D36"/>
                </a:solidFill>
              </a:defRPr>
            </a:pPr>
            <a:r>
              <a:t>• Counts decrease as certification count rises.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C3D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38253"/>
                </a:solidFill>
              </a:defRPr>
            </a:pPr>
            <a:r>
              <a:t>Campus Recruitment Placement Dashboard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3F30"/>
                </a:solidFill>
              </a:defRPr>
            </a:pPr>
            <a:r>
              <a:t>Placement by Degree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38253"/>
                </a:solidFill>
              </a:defRPr>
            </a:pPr>
            <a:r>
              <a:t>Placed students grouped by degree field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417320"/>
          <a:ext cx="58521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0" y="1920240"/>
            <a:ext cx="3840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23D36"/>
                </a:solidFill>
              </a:defRPr>
            </a:pPr>
            <a:r>
              <a:t>• Engineering: 888</a:t>
            </a:r>
          </a:p>
          <a:p>
            <a:pPr>
              <a:spcAft>
                <a:spcPts val="1000"/>
              </a:spcAft>
              <a:defRPr sz="1700">
                <a:solidFill>
                  <a:srgbClr val="323D36"/>
                </a:solidFill>
              </a:defRPr>
            </a:pPr>
            <a:r>
              <a:t>• Business: 520</a:t>
            </a:r>
          </a:p>
          <a:p>
            <a:pPr>
              <a:spcAft>
                <a:spcPts val="1000"/>
              </a:spcAft>
              <a:defRPr sz="1700">
                <a:solidFill>
                  <a:srgbClr val="323D36"/>
                </a:solidFill>
              </a:defRPr>
            </a:pPr>
            <a:r>
              <a:t>• Science: 291</a:t>
            </a:r>
          </a:p>
          <a:p>
            <a:pPr>
              <a:spcAft>
                <a:spcPts val="1000"/>
              </a:spcAft>
              <a:defRPr sz="1700">
                <a:solidFill>
                  <a:srgbClr val="323D36"/>
                </a:solidFill>
              </a:defRPr>
            </a:pPr>
            <a:r>
              <a:t>• Other: 222</a:t>
            </a:r>
          </a:p>
          <a:p>
            <a:pPr>
              <a:spcAft>
                <a:spcPts val="1000"/>
              </a:spcAft>
              <a:defRPr sz="1700">
                <a:solidFill>
                  <a:srgbClr val="323D36"/>
                </a:solidFill>
              </a:defRPr>
            </a:pPr>
            <a:r>
              <a:t>• Arts: 212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C3D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38253"/>
                </a:solidFill>
              </a:defRPr>
            </a:pPr>
            <a:r>
              <a:t>Campus Recruitment Placement Dashboard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3F30"/>
                </a:solidFill>
              </a:defRPr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38253"/>
                </a:solidFill>
              </a:defRPr>
            </a:pPr>
            <a:r>
              <a:t>Insights are based on the values visible in the supplied Excel screenshots.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The dataset includes 2,499 students; 2,133 are marked as placed.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13432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The overall placement rate is approximately 85.4%, based on the displayed totals.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9544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19272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Engineering has the highest placed-student count among the displayed degree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05656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15384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Marketing &amp; HR has the highest average salary among the displayed specialization groups.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01768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111496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Certification and project-count charts help compare employability-related indicators.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C3D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38253"/>
                </a:solidFill>
              </a:defRPr>
            </a:pPr>
            <a:r>
              <a:t>Campus Recruitment Placement Dashboard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3F30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38253"/>
                </a:solidFill>
              </a:defRPr>
            </a:pPr>
            <a: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Excel PivotTables and charts make placement data easier to understand.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13432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The dashboard gives a quick view of student count, placement status and salary indicators.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9544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19272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Future improvements: add slicers, data labels, clearer chart titles and refreshed source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05656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3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15384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D36"/>
                </a:solidFill>
              </a:defRPr>
            </a:pPr>
            <a:r>
              <a:t>•  The dashboard can support discussion and planning, but does not by itself explain why outcomes occur.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22860"/>
          </a:xfrm>
          <a:prstGeom prst="rect">
            <a:avLst/>
          </a:prstGeom>
          <a:solidFill>
            <a:srgbClr val="C3D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38253"/>
                </a:solidFill>
              </a:defRPr>
            </a:pPr>
            <a:r>
              <a:t>Campus Recruitment Placement Dashboard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